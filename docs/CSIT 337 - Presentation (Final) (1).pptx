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ae58e8918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ae58e8918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ae58e89188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ae58e89188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a68601e0b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a68601e0b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ae86da9a7d_1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ae86da9a7d_1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ae58e89188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3ae58e89188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ae6662b43e_3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ae6662b43e_3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ae6662b43e_3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ae6662b43e_3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a68601e0bf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3a68601e0bf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a68601e0bf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a68601e0bf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ae58e89188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3ae58e89188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2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>
                <a:solidFill>
                  <a:schemeClr val="dk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dark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Char char="●"/>
              <a:defRPr sz="1800">
                <a:solidFill>
                  <a:schemeClr val="lt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2"/>
                </a:solidFill>
              </a:defRPr>
            </a:lvl1pPr>
            <a:lvl2pPr lvl="1" algn="r">
              <a:buNone/>
              <a:defRPr sz="1000">
                <a:solidFill>
                  <a:schemeClr val="lt2"/>
                </a:solidFill>
              </a:defRPr>
            </a:lvl2pPr>
            <a:lvl3pPr lvl="2" algn="r">
              <a:buNone/>
              <a:defRPr sz="1000">
                <a:solidFill>
                  <a:schemeClr val="lt2"/>
                </a:solidFill>
              </a:defRPr>
            </a:lvl3pPr>
            <a:lvl4pPr lvl="3" algn="r">
              <a:buNone/>
              <a:defRPr sz="1000">
                <a:solidFill>
                  <a:schemeClr val="lt2"/>
                </a:solidFill>
              </a:defRPr>
            </a:lvl4pPr>
            <a:lvl5pPr lvl="4" algn="r">
              <a:buNone/>
              <a:defRPr sz="1000">
                <a:solidFill>
                  <a:schemeClr val="lt2"/>
                </a:solidFill>
              </a:defRPr>
            </a:lvl5pPr>
            <a:lvl6pPr lvl="5" algn="r">
              <a:buNone/>
              <a:defRPr sz="1000">
                <a:solidFill>
                  <a:schemeClr val="lt2"/>
                </a:solidFill>
              </a:defRPr>
            </a:lvl6pPr>
            <a:lvl7pPr lvl="6" algn="r">
              <a:buNone/>
              <a:defRPr sz="1000">
                <a:solidFill>
                  <a:schemeClr val="lt2"/>
                </a:solidFill>
              </a:defRPr>
            </a:lvl7pPr>
            <a:lvl8pPr lvl="7" algn="r">
              <a:buNone/>
              <a:defRPr sz="1000">
                <a:solidFill>
                  <a:schemeClr val="lt2"/>
                </a:solidFill>
              </a:defRPr>
            </a:lvl8pPr>
            <a:lvl9pPr lvl="8" algn="r">
              <a:buNone/>
              <a:defRPr sz="1000">
                <a:solidFill>
                  <a:schemeClr val="lt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1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1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Relationship Id="rId4" Type="http://schemas.openxmlformats.org/officeDocument/2006/relationships/image" Target="../media/image1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Relationship Id="rId4" Type="http://schemas.openxmlformats.org/officeDocument/2006/relationships/image" Target="../media/image1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650426" y="762400"/>
            <a:ext cx="7570200" cy="2004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MatchHub</a:t>
            </a:r>
            <a:endParaRPr b="1" sz="6000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Live Soccer Match Tracker</a:t>
            </a:r>
            <a:endParaRPr b="1" sz="1900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55" name="Google Shape;55;p13"/>
          <p:cNvSpPr txBox="1"/>
          <p:nvPr/>
        </p:nvSpPr>
        <p:spPr>
          <a:xfrm>
            <a:off x="1844200" y="3194825"/>
            <a:ext cx="56100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300">
                <a:solidFill>
                  <a:schemeClr val="lt1"/>
                </a:solidFill>
              </a:rPr>
              <a:t>By: Jeanne Exantus, Shari Li, Elianny Rodriguez, and Jeremy Jimenez</a:t>
            </a:r>
            <a:endParaRPr i="1" sz="13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/>
          <p:nvPr/>
        </p:nvSpPr>
        <p:spPr>
          <a:xfrm>
            <a:off x="2292725" y="476025"/>
            <a:ext cx="4412700" cy="695400"/>
          </a:xfrm>
          <a:prstGeom prst="roundRect">
            <a:avLst>
              <a:gd fmla="val 16667" name="adj"/>
            </a:avLst>
          </a:prstGeom>
          <a:solidFill>
            <a:srgbClr val="C9DA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9FC5E8"/>
              </a:solidFill>
            </a:endParaRPr>
          </a:p>
        </p:txBody>
      </p:sp>
      <p:sp>
        <p:nvSpPr>
          <p:cNvPr id="61" name="Google Shape;61;p14"/>
          <p:cNvSpPr txBox="1"/>
          <p:nvPr>
            <p:ph type="title"/>
          </p:nvPr>
        </p:nvSpPr>
        <p:spPr>
          <a:xfrm>
            <a:off x="2672250" y="499550"/>
            <a:ext cx="3799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Why MatchHub?</a:t>
            </a:r>
            <a:endParaRPr b="1" sz="30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62" name="Google Shape;62;p14"/>
          <p:cNvSpPr txBox="1"/>
          <p:nvPr>
            <p:ph idx="1" type="body"/>
          </p:nvPr>
        </p:nvSpPr>
        <p:spPr>
          <a:xfrm>
            <a:off x="989175" y="1519000"/>
            <a:ext cx="7427700" cy="312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Our website, </a:t>
            </a:r>
            <a:r>
              <a:rPr b="1" i="1" lang="en" sz="17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MatchHub</a:t>
            </a:r>
            <a:r>
              <a:rPr lang="en" sz="17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 is an application for users to keep track their soccer matches</a:t>
            </a:r>
            <a:endParaRPr sz="1700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23850" lvl="0" marL="457200" rtl="0" algn="l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Verdana"/>
              <a:buChar char="➔"/>
            </a:pPr>
            <a:r>
              <a:rPr lang="en" sz="15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User will able to input the soccer team names, the date of the match, and the time of the match</a:t>
            </a:r>
            <a:endParaRPr sz="1500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2385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Verdana"/>
              <a:buChar char="➔"/>
            </a:pPr>
            <a:r>
              <a:rPr lang="en" sz="15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Each match will be categorized as upcoming, ongoing or completed</a:t>
            </a:r>
            <a:endParaRPr sz="1500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This site is also for soccer fans as users will be able to view and access soccer stats from the </a:t>
            </a:r>
            <a:r>
              <a:rPr i="1" lang="en" sz="17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Major League Soccer(MLS)</a:t>
            </a:r>
            <a:endParaRPr i="1" sz="1700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lnSpc>
                <a:spcPct val="12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700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/>
          <p:nvPr/>
        </p:nvSpPr>
        <p:spPr>
          <a:xfrm>
            <a:off x="1723950" y="428250"/>
            <a:ext cx="5412300" cy="695400"/>
          </a:xfrm>
          <a:prstGeom prst="roundRect">
            <a:avLst>
              <a:gd fmla="val 16667" name="adj"/>
            </a:avLst>
          </a:prstGeom>
          <a:solidFill>
            <a:srgbClr val="C9DA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9FC5E8"/>
              </a:solidFill>
            </a:endParaRPr>
          </a:p>
        </p:txBody>
      </p:sp>
      <p:sp>
        <p:nvSpPr>
          <p:cNvPr id="68" name="Google Shape;68;p15"/>
          <p:cNvSpPr txBox="1"/>
          <p:nvPr>
            <p:ph type="title"/>
          </p:nvPr>
        </p:nvSpPr>
        <p:spPr>
          <a:xfrm>
            <a:off x="2164700" y="489600"/>
            <a:ext cx="4971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1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List of Technologies</a:t>
            </a:r>
            <a:endParaRPr b="1" sz="31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69" name="Google Shape;69;p15"/>
          <p:cNvSpPr txBox="1"/>
          <p:nvPr/>
        </p:nvSpPr>
        <p:spPr>
          <a:xfrm>
            <a:off x="1687800" y="1688350"/>
            <a:ext cx="6222000" cy="259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b="1" lang="en" sz="18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HTML</a:t>
            </a:r>
            <a:r>
              <a:rPr lang="en" sz="18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i="1" lang="en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(for the framework of the webpages)</a:t>
            </a:r>
            <a:endParaRPr i="1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457200" rtl="0" algn="l">
              <a:lnSpc>
                <a:spcPct val="1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Verdana"/>
              <a:buChar char="●"/>
            </a:pPr>
            <a:r>
              <a:rPr b="1" lang="en" sz="18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CSS</a:t>
            </a:r>
            <a:r>
              <a:rPr lang="en" sz="18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i="1" lang="en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(for visual styling)</a:t>
            </a:r>
            <a:endParaRPr i="1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457200" rtl="0" algn="l">
              <a:lnSpc>
                <a:spcPct val="1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Verdana"/>
              <a:buChar char="●"/>
            </a:pPr>
            <a:r>
              <a:rPr b="1" lang="en" sz="18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Javascript </a:t>
            </a:r>
            <a:r>
              <a:rPr i="1" lang="en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(for interactivity &amp; dynamic behaviors)</a:t>
            </a:r>
            <a:endParaRPr i="1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457200" rtl="0" algn="l">
              <a:lnSpc>
                <a:spcPct val="1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Verdana"/>
              <a:buChar char="●"/>
            </a:pPr>
            <a:r>
              <a:rPr b="1" lang="en" sz="18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SQL </a:t>
            </a:r>
            <a:r>
              <a:rPr i="1" lang="en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(for building the databases)</a:t>
            </a:r>
            <a:endParaRPr i="1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457200" rtl="0" algn="l">
              <a:lnSpc>
                <a:spcPct val="1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Verdana"/>
              <a:buChar char="●"/>
            </a:pPr>
            <a:r>
              <a:rPr b="1" lang="en" sz="18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PHP</a:t>
            </a:r>
            <a:r>
              <a:rPr lang="en" sz="18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i="1" lang="en" sz="13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(for the integration databases)</a:t>
            </a:r>
            <a:endParaRPr i="1" sz="1300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/>
          <p:nvPr/>
        </p:nvSpPr>
        <p:spPr>
          <a:xfrm>
            <a:off x="2060975" y="330225"/>
            <a:ext cx="5152500" cy="695400"/>
          </a:xfrm>
          <a:prstGeom prst="roundRect">
            <a:avLst>
              <a:gd fmla="val 16667" name="adj"/>
            </a:avLst>
          </a:prstGeom>
          <a:solidFill>
            <a:srgbClr val="C9DA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9FC5E8"/>
              </a:solidFill>
            </a:endParaRPr>
          </a:p>
        </p:txBody>
      </p:sp>
      <p:sp>
        <p:nvSpPr>
          <p:cNvPr id="75" name="Google Shape;75;p16"/>
          <p:cNvSpPr/>
          <p:nvPr/>
        </p:nvSpPr>
        <p:spPr>
          <a:xfrm>
            <a:off x="524250" y="1289025"/>
            <a:ext cx="8095500" cy="572700"/>
          </a:xfrm>
          <a:prstGeom prst="rect">
            <a:avLst/>
          </a:prstGeom>
          <a:solidFill>
            <a:srgbClr val="F0F5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  <p:sp>
        <p:nvSpPr>
          <p:cNvPr id="76" name="Google Shape;76;p16"/>
          <p:cNvSpPr txBox="1"/>
          <p:nvPr>
            <p:ph type="title"/>
          </p:nvPr>
        </p:nvSpPr>
        <p:spPr>
          <a:xfrm>
            <a:off x="2438675" y="391575"/>
            <a:ext cx="4557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Website Architecture</a:t>
            </a:r>
            <a:endParaRPr b="1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77" name="Google Shape;77;p16"/>
          <p:cNvSpPr txBox="1"/>
          <p:nvPr>
            <p:ph idx="1" type="body"/>
          </p:nvPr>
        </p:nvSpPr>
        <p:spPr>
          <a:xfrm>
            <a:off x="940025" y="1971100"/>
            <a:ext cx="6878400" cy="265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Char char="➢"/>
            </a:pPr>
            <a:r>
              <a:rPr b="1" lang="en" sz="1500">
                <a:solidFill>
                  <a:srgbClr val="000000"/>
                </a:solidFill>
              </a:rPr>
              <a:t>Home Page:</a:t>
            </a:r>
            <a:endParaRPr b="1" sz="1500">
              <a:solidFill>
                <a:srgbClr val="000000"/>
              </a:solidFill>
            </a:endParaRPr>
          </a:p>
          <a:p>
            <a:pPr indent="-311150" lvl="1" marL="9144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Char char="○"/>
            </a:pPr>
            <a:r>
              <a:rPr lang="en" sz="1300">
                <a:solidFill>
                  <a:srgbClr val="000000"/>
                </a:solidFill>
              </a:rPr>
              <a:t>Welcomes user</a:t>
            </a:r>
            <a:endParaRPr sz="1300">
              <a:solidFill>
                <a:srgbClr val="000000"/>
              </a:solidFill>
            </a:endParaRPr>
          </a:p>
          <a:p>
            <a:pPr indent="-311150" lvl="1" marL="9144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Char char="○"/>
            </a:pPr>
            <a:r>
              <a:rPr b="1" lang="en" sz="1300">
                <a:solidFill>
                  <a:srgbClr val="000000"/>
                </a:solidFill>
              </a:rPr>
              <a:t>Register/Login Page</a:t>
            </a:r>
            <a:endParaRPr b="1" sz="1300"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000000"/>
              </a:solidFill>
            </a:endParaRPr>
          </a:p>
          <a:p>
            <a:pPr indent="-32385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Char char="➢"/>
            </a:pPr>
            <a:r>
              <a:rPr b="1" lang="en" sz="1500">
                <a:solidFill>
                  <a:srgbClr val="000000"/>
                </a:solidFill>
              </a:rPr>
              <a:t>Teams Page</a:t>
            </a:r>
            <a:endParaRPr b="1" sz="1500">
              <a:solidFill>
                <a:srgbClr val="000000"/>
              </a:solidFill>
            </a:endParaRPr>
          </a:p>
          <a:p>
            <a:pPr indent="-311150" lvl="1" marL="9144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Char char="○"/>
            </a:pPr>
            <a:r>
              <a:rPr lang="en" sz="1300">
                <a:solidFill>
                  <a:srgbClr val="000000"/>
                </a:solidFill>
              </a:rPr>
              <a:t>T</a:t>
            </a:r>
            <a:r>
              <a:rPr lang="en" sz="1300">
                <a:solidFill>
                  <a:srgbClr val="000000"/>
                </a:solidFill>
              </a:rPr>
              <a:t>eam info/statistics, players info, and match results </a:t>
            </a:r>
            <a:endParaRPr sz="1300"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000000"/>
              </a:solidFill>
            </a:endParaRPr>
          </a:p>
          <a:p>
            <a:pPr indent="-32385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Char char="➢"/>
            </a:pPr>
            <a:r>
              <a:rPr b="1" lang="en" sz="1500">
                <a:solidFill>
                  <a:srgbClr val="000000"/>
                </a:solidFill>
              </a:rPr>
              <a:t>Leaderboard Page</a:t>
            </a:r>
            <a:endParaRPr b="1" sz="1500">
              <a:solidFill>
                <a:srgbClr val="000000"/>
              </a:solidFill>
            </a:endParaRPr>
          </a:p>
          <a:p>
            <a:pPr indent="-311150" lvl="1" marL="9144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Char char="○"/>
            </a:pPr>
            <a:r>
              <a:rPr lang="en" sz="1300">
                <a:solidFill>
                  <a:srgbClr val="000000"/>
                </a:solidFill>
              </a:rPr>
              <a:t>R</a:t>
            </a:r>
            <a:r>
              <a:rPr lang="en" sz="1300">
                <a:solidFill>
                  <a:srgbClr val="000000"/>
                </a:solidFill>
              </a:rPr>
              <a:t>anked leaderboard (points, matched played, wins/lose, etc.) </a:t>
            </a:r>
            <a:endParaRPr sz="1300"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000000"/>
              </a:solidFill>
            </a:endParaRPr>
          </a:p>
          <a:p>
            <a:pPr indent="-32385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Char char="➢"/>
            </a:pPr>
            <a:r>
              <a:rPr b="1" lang="en" sz="1500">
                <a:solidFill>
                  <a:srgbClr val="000000"/>
                </a:solidFill>
              </a:rPr>
              <a:t>Match Tracker Page</a:t>
            </a:r>
            <a:endParaRPr b="1" sz="1500">
              <a:solidFill>
                <a:srgbClr val="000000"/>
              </a:solidFill>
            </a:endParaRPr>
          </a:p>
          <a:p>
            <a:pPr indent="-311150" lvl="1" marL="9144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Char char="○"/>
            </a:pPr>
            <a:r>
              <a:rPr lang="en" sz="1300">
                <a:solidFill>
                  <a:srgbClr val="000000"/>
                </a:solidFill>
              </a:rPr>
              <a:t>D</a:t>
            </a:r>
            <a:r>
              <a:rPr lang="en" sz="1300">
                <a:solidFill>
                  <a:srgbClr val="000000"/>
                </a:solidFill>
              </a:rPr>
              <a:t>etails about upcoming, completed, or live matches</a:t>
            </a:r>
            <a:endParaRPr sz="1300">
              <a:solidFill>
                <a:srgbClr val="000000"/>
              </a:solidFill>
            </a:endParaRPr>
          </a:p>
        </p:txBody>
      </p:sp>
      <p:pic>
        <p:nvPicPr>
          <p:cNvPr id="78" name="Google Shape;78;p16" title="Screenshot 2025-12-08 at 10.19.04 A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85442" y="1358725"/>
            <a:ext cx="7977267" cy="452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7"/>
          <p:cNvSpPr/>
          <p:nvPr/>
        </p:nvSpPr>
        <p:spPr>
          <a:xfrm>
            <a:off x="1784625" y="330225"/>
            <a:ext cx="5607000" cy="695400"/>
          </a:xfrm>
          <a:prstGeom prst="roundRect">
            <a:avLst>
              <a:gd fmla="val 16667" name="adj"/>
            </a:avLst>
          </a:prstGeom>
          <a:solidFill>
            <a:srgbClr val="C9DA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9FC5E8"/>
              </a:solidFill>
            </a:endParaRPr>
          </a:p>
        </p:txBody>
      </p:sp>
      <p:sp>
        <p:nvSpPr>
          <p:cNvPr id="84" name="Google Shape;84;p17"/>
          <p:cNvSpPr txBox="1"/>
          <p:nvPr>
            <p:ph type="title"/>
          </p:nvPr>
        </p:nvSpPr>
        <p:spPr>
          <a:xfrm>
            <a:off x="2024325" y="391575"/>
            <a:ext cx="5127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Website Features </a:t>
            </a:r>
            <a:r>
              <a:rPr i="1" lang="en" sz="25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(working)</a:t>
            </a:r>
            <a:endParaRPr i="1" sz="25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85" name="Google Shape;85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085650" y="1312150"/>
            <a:ext cx="5955573" cy="3277776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7"/>
          <p:cNvSpPr txBox="1"/>
          <p:nvPr/>
        </p:nvSpPr>
        <p:spPr>
          <a:xfrm>
            <a:off x="213525" y="2327850"/>
            <a:ext cx="18117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0000FF"/>
                </a:solidFill>
                <a:latin typeface="Verdana"/>
                <a:ea typeface="Verdana"/>
                <a:cs typeface="Verdana"/>
                <a:sym typeface="Verdana"/>
              </a:rPr>
              <a:t>Home Page</a:t>
            </a:r>
            <a:endParaRPr b="1" sz="2000">
              <a:solidFill>
                <a:srgbClr val="0000F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FF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8"/>
          <p:cNvSpPr/>
          <p:nvPr/>
        </p:nvSpPr>
        <p:spPr>
          <a:xfrm>
            <a:off x="1829200" y="330225"/>
            <a:ext cx="5544600" cy="695400"/>
          </a:xfrm>
          <a:prstGeom prst="roundRect">
            <a:avLst>
              <a:gd fmla="val 16667" name="adj"/>
            </a:avLst>
          </a:prstGeom>
          <a:solidFill>
            <a:srgbClr val="C9DA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9FC5E8"/>
              </a:solidFill>
            </a:endParaRPr>
          </a:p>
        </p:txBody>
      </p:sp>
      <p:sp>
        <p:nvSpPr>
          <p:cNvPr id="92" name="Google Shape;92;p18"/>
          <p:cNvSpPr txBox="1"/>
          <p:nvPr>
            <p:ph type="title"/>
          </p:nvPr>
        </p:nvSpPr>
        <p:spPr>
          <a:xfrm>
            <a:off x="2070025" y="409400"/>
            <a:ext cx="5116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Website Features</a:t>
            </a:r>
            <a:r>
              <a:rPr b="1" lang="en" sz="25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i="1" lang="en" sz="25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(working)</a:t>
            </a:r>
            <a:endParaRPr i="1" sz="25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93" name="Google Shape;93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070025" y="1403075"/>
            <a:ext cx="6241700" cy="3429801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8"/>
          <p:cNvSpPr txBox="1"/>
          <p:nvPr/>
        </p:nvSpPr>
        <p:spPr>
          <a:xfrm>
            <a:off x="188975" y="2515050"/>
            <a:ext cx="1773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0000FF"/>
                </a:solidFill>
                <a:latin typeface="Verdana"/>
                <a:ea typeface="Verdana"/>
                <a:cs typeface="Verdana"/>
                <a:sym typeface="Verdana"/>
              </a:rPr>
              <a:t>Login</a:t>
            </a:r>
            <a:r>
              <a:rPr b="1" lang="en" sz="2000">
                <a:solidFill>
                  <a:srgbClr val="0000FF"/>
                </a:solidFill>
                <a:latin typeface="Verdana"/>
                <a:ea typeface="Verdana"/>
                <a:cs typeface="Verdana"/>
                <a:sym typeface="Verdana"/>
              </a:rPr>
              <a:t> Page</a:t>
            </a:r>
            <a:endParaRPr b="1" sz="2000">
              <a:solidFill>
                <a:srgbClr val="0000F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FF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9"/>
          <p:cNvSpPr/>
          <p:nvPr/>
        </p:nvSpPr>
        <p:spPr>
          <a:xfrm>
            <a:off x="1838075" y="348050"/>
            <a:ext cx="5678400" cy="695400"/>
          </a:xfrm>
          <a:prstGeom prst="roundRect">
            <a:avLst>
              <a:gd fmla="val 16667" name="adj"/>
            </a:avLst>
          </a:prstGeom>
          <a:solidFill>
            <a:srgbClr val="C9DA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9FC5E8"/>
              </a:solidFill>
            </a:endParaRPr>
          </a:p>
        </p:txBody>
      </p:sp>
      <p:sp>
        <p:nvSpPr>
          <p:cNvPr id="100" name="Google Shape;100;p19"/>
          <p:cNvSpPr txBox="1"/>
          <p:nvPr>
            <p:ph type="title"/>
          </p:nvPr>
        </p:nvSpPr>
        <p:spPr>
          <a:xfrm>
            <a:off x="2130225" y="409400"/>
            <a:ext cx="5127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Website Features </a:t>
            </a:r>
            <a:r>
              <a:rPr i="1" lang="en" sz="25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(working)</a:t>
            </a:r>
            <a:endParaRPr i="1" sz="25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01" name="Google Shape;101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012325" y="1401925"/>
            <a:ext cx="6242648" cy="3442051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9"/>
          <p:cNvSpPr txBox="1"/>
          <p:nvPr/>
        </p:nvSpPr>
        <p:spPr>
          <a:xfrm>
            <a:off x="188975" y="2515050"/>
            <a:ext cx="1649100" cy="93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0000FF"/>
                </a:solidFill>
                <a:latin typeface="Verdana"/>
                <a:ea typeface="Verdana"/>
                <a:cs typeface="Verdana"/>
                <a:sym typeface="Verdana"/>
              </a:rPr>
              <a:t>Register</a:t>
            </a:r>
            <a:r>
              <a:rPr b="1" lang="en" sz="2000">
                <a:solidFill>
                  <a:srgbClr val="0000FF"/>
                </a:solidFill>
                <a:latin typeface="Verdana"/>
                <a:ea typeface="Verdana"/>
                <a:cs typeface="Verdana"/>
                <a:sym typeface="Verdana"/>
              </a:rPr>
              <a:t> Page</a:t>
            </a:r>
            <a:endParaRPr b="1" sz="2000">
              <a:solidFill>
                <a:srgbClr val="0000F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FF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0"/>
          <p:cNvSpPr/>
          <p:nvPr/>
        </p:nvSpPr>
        <p:spPr>
          <a:xfrm>
            <a:off x="1713325" y="409400"/>
            <a:ext cx="5898300" cy="695400"/>
          </a:xfrm>
          <a:prstGeom prst="roundRect">
            <a:avLst>
              <a:gd fmla="val 16667" name="adj"/>
            </a:avLst>
          </a:prstGeom>
          <a:solidFill>
            <a:srgbClr val="C9DA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9FC5E8"/>
              </a:solidFill>
            </a:endParaRPr>
          </a:p>
        </p:txBody>
      </p:sp>
      <p:sp>
        <p:nvSpPr>
          <p:cNvPr id="108" name="Google Shape;108;p20"/>
          <p:cNvSpPr txBox="1"/>
          <p:nvPr>
            <p:ph type="title"/>
          </p:nvPr>
        </p:nvSpPr>
        <p:spPr>
          <a:xfrm>
            <a:off x="1987600" y="470750"/>
            <a:ext cx="5564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Website Features </a:t>
            </a:r>
            <a:r>
              <a:rPr i="1" lang="en" sz="26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(on-going)</a:t>
            </a:r>
            <a:endParaRPr i="1" sz="26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09" name="Google Shape;109;p20"/>
          <p:cNvSpPr txBox="1"/>
          <p:nvPr>
            <p:ph idx="1" type="body"/>
          </p:nvPr>
        </p:nvSpPr>
        <p:spPr>
          <a:xfrm>
            <a:off x="1820800" y="1732925"/>
            <a:ext cx="5898300" cy="252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Verdana"/>
              <a:buChar char="➔"/>
            </a:pPr>
            <a:r>
              <a:rPr b="1" lang="en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Search bar</a:t>
            </a:r>
            <a:r>
              <a:rPr lang="en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 functionality </a:t>
            </a:r>
            <a:r>
              <a:rPr lang="en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improvement</a:t>
            </a:r>
            <a:endParaRPr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Verdana"/>
              <a:buChar char="➔"/>
            </a:pPr>
            <a:r>
              <a:rPr lang="en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Enable automatic </a:t>
            </a:r>
            <a:r>
              <a:rPr b="1" lang="en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leaderboard</a:t>
            </a:r>
            <a:r>
              <a:rPr lang="en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 updates</a:t>
            </a:r>
            <a:endParaRPr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Verdana"/>
              <a:buChar char="➔"/>
            </a:pPr>
            <a:r>
              <a:rPr lang="en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Refactoring of </a:t>
            </a:r>
            <a:r>
              <a:rPr b="1" lang="en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upcoming matches</a:t>
            </a:r>
            <a:r>
              <a:rPr lang="en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 page</a:t>
            </a:r>
            <a:endParaRPr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Verdana"/>
              <a:buChar char="➔"/>
            </a:pPr>
            <a:r>
              <a:rPr b="1" lang="en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Splash page</a:t>
            </a:r>
            <a:r>
              <a:rPr lang="en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 development</a:t>
            </a:r>
            <a:endParaRPr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1"/>
          <p:cNvSpPr/>
          <p:nvPr/>
        </p:nvSpPr>
        <p:spPr>
          <a:xfrm>
            <a:off x="1606350" y="490650"/>
            <a:ext cx="5517900" cy="695400"/>
          </a:xfrm>
          <a:prstGeom prst="roundRect">
            <a:avLst>
              <a:gd fmla="val 16667" name="adj"/>
            </a:avLst>
          </a:prstGeom>
          <a:solidFill>
            <a:srgbClr val="C9DA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9FC5E8"/>
              </a:solidFill>
            </a:endParaRPr>
          </a:p>
        </p:txBody>
      </p:sp>
      <p:sp>
        <p:nvSpPr>
          <p:cNvPr id="115" name="Google Shape;115;p21"/>
          <p:cNvSpPr txBox="1"/>
          <p:nvPr>
            <p:ph type="title"/>
          </p:nvPr>
        </p:nvSpPr>
        <p:spPr>
          <a:xfrm>
            <a:off x="1942975" y="552000"/>
            <a:ext cx="4931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Future Improvements </a:t>
            </a:r>
            <a:endParaRPr b="1" sz="30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16" name="Google Shape;116;p21"/>
          <p:cNvSpPr txBox="1"/>
          <p:nvPr/>
        </p:nvSpPr>
        <p:spPr>
          <a:xfrm>
            <a:off x="1080400" y="1474400"/>
            <a:ext cx="6935400" cy="313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2"/>
              </a:solidFill>
            </a:endParaRPr>
          </a:p>
        </p:txBody>
      </p:sp>
      <p:sp>
        <p:nvSpPr>
          <p:cNvPr id="117" name="Google Shape;117;p21"/>
          <p:cNvSpPr txBox="1"/>
          <p:nvPr/>
        </p:nvSpPr>
        <p:spPr>
          <a:xfrm>
            <a:off x="1518900" y="1474400"/>
            <a:ext cx="6106200" cy="343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6550" lvl="0" marL="457200" rtl="0" algn="l">
              <a:lnSpc>
                <a:spcPct val="1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Verdana"/>
              <a:buChar char="➔"/>
            </a:pPr>
            <a:r>
              <a:rPr lang="en" sz="17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Account management section</a:t>
            </a:r>
            <a:endParaRPr sz="1700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36550" lvl="0" marL="457200" rtl="0" algn="l">
              <a:lnSpc>
                <a:spcPct val="1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Verdana"/>
              <a:buChar char="➔"/>
            </a:pPr>
            <a:r>
              <a:rPr lang="en" sz="17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Implement password </a:t>
            </a:r>
            <a:r>
              <a:rPr lang="en" sz="17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hashing</a:t>
            </a:r>
            <a:endParaRPr sz="1700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36550" lvl="0" marL="457200" rtl="0" algn="l">
              <a:lnSpc>
                <a:spcPct val="1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Verdana"/>
              <a:buChar char="➔"/>
            </a:pPr>
            <a:r>
              <a:rPr lang="en" sz="17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Automated security email alerts</a:t>
            </a:r>
            <a:endParaRPr sz="1700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36550" lvl="1" marL="914400" rtl="0" algn="l">
              <a:lnSpc>
                <a:spcPct val="1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Verdana"/>
              <a:buChar char="◆"/>
            </a:pPr>
            <a:r>
              <a:rPr lang="en" sz="17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Account changes</a:t>
            </a:r>
            <a:endParaRPr sz="1700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36550" lvl="1" marL="914400" rtl="0" algn="l">
              <a:lnSpc>
                <a:spcPct val="1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Verdana"/>
              <a:buChar char="◆"/>
            </a:pPr>
            <a:r>
              <a:rPr lang="en" sz="17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Login sessions</a:t>
            </a:r>
            <a:endParaRPr sz="1700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36550" lvl="0" marL="457200" rtl="0" algn="l">
              <a:lnSpc>
                <a:spcPct val="1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Verdana"/>
              <a:buChar char="➔"/>
            </a:pPr>
            <a:r>
              <a:rPr lang="en" sz="17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Email and password formatting requirements</a:t>
            </a:r>
            <a:endParaRPr sz="1700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2"/>
          <p:cNvSpPr txBox="1"/>
          <p:nvPr>
            <p:ph type="ctrTitle"/>
          </p:nvPr>
        </p:nvSpPr>
        <p:spPr>
          <a:xfrm>
            <a:off x="1599150" y="1787900"/>
            <a:ext cx="5945700" cy="1246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5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THANK YOU!!</a:t>
            </a:r>
            <a:endParaRPr b="1" sz="5500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Dark">
  <a:themeElements>
    <a:clrScheme name="Simple Dark">
      <a:dk1>
        <a:srgbClr val="FFFFFF"/>
      </a:dk1>
      <a:lt1>
        <a:srgbClr val="212121"/>
      </a:lt1>
      <a:dk2>
        <a:srgbClr val="303030"/>
      </a:dk2>
      <a:lt2>
        <a:srgbClr val="ADADAD"/>
      </a:lt2>
      <a:accent1>
        <a:srgbClr val="009688"/>
      </a:accent1>
      <a:accent2>
        <a:srgbClr val="EEEEEE"/>
      </a:accent2>
      <a:accent3>
        <a:srgbClr val="78909C"/>
      </a:accent3>
      <a:accent4>
        <a:srgbClr val="FFAB40"/>
      </a:accent4>
      <a:accent5>
        <a:srgbClr val="4DD0E1"/>
      </a:accent5>
      <a:accent6>
        <a:srgbClr val="EEFF41"/>
      </a:accent6>
      <a:hlink>
        <a:srgbClr val="4DD0E1"/>
      </a:hlink>
      <a:folHlink>
        <a:srgbClr val="4DD0E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